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 sz="2800" b="1"/>
            </a:pPr>
            <a:r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 sz="1700" b="0"/>
            </a:pPr>
            <a:r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600" b="1"/>
            </a:pPr>
            <a:r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  <a:defRPr sz="1700" b="0"/>
            </a:pPr>
            <a:r>
              <a:t>Inputs: Customer financial and credit data such as income, credit score, credit utilization, missed payments, debt-to-income ratio, and loan balance.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600" b="1"/>
            </a:pPr>
            <a:r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  <a:defRPr sz="1600" b="0"/>
            </a:pPr>
            <a:r>
              <a:t>AUTONOMOUS</a:t>
            </a:r>
            <a:br/>
            <a:r>
              <a:t>• Monitor data and model outputs</a:t>
            </a:r>
            <a:br/>
            <a:r>
              <a:t>• Prioritize cases using approved rules</a:t>
            </a:r>
            <a:br/>
            <a:r>
              <a:t>• Generate draft outreach recommendations</a:t>
            </a:r>
            <a:br/>
            <a:r>
              <a:t>• Track outcomes and flag changes</a:t>
            </a:r>
            <a:br/>
            <a:br/>
            <a:r>
              <a:t>HUMAN OVERSIGHT</a:t>
            </a:r>
            <a:br/>
            <a:r>
              <a:t>• Approve or change customer-facing actions</a:t>
            </a:r>
            <a:br/>
            <a:r>
              <a:t>• Review high-impact or unusual cases</a:t>
            </a:r>
            <a:br/>
            <a:r>
              <a:t>• Check communications for appropriateness and compliance</a:t>
            </a:r>
            <a:br/>
            <a:r>
              <a:t>• Decide when model/rules need revision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600" b="1"/>
            </a:pPr>
            <a:r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1700" b="0"/>
            </a:pPr>
            <a:r>
              <a:t>• Fairness: compare performance and error rates across relevant customer groups and investigate meaningful disparities.</a:t>
            </a:r>
            <a:br/>
            <a:r>
              <a:t>• Explainability: provide plain-language reasons for risk predictions using interpretable features and appropriate explanation methods.</a:t>
            </a:r>
            <a:br/>
            <a:r>
              <a:t>• Compliance: use approved data, protect customer information, maintain audit trails, and follow applicable requirements.</a:t>
            </a:r>
            <a:br/>
            <a:r>
              <a:t>• Human oversight: require review for critical or consequential customer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 sz="2600" b="1"/>
            </a:pPr>
            <a:r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  <a:defRPr sz="1600" b="0"/>
            </a:pPr>
            <a:r>
              <a:t>BUSINESS KPIs</a:t>
            </a:r>
            <a:br/>
            <a:r>
              <a:t>• 30-day delinquency rate</a:t>
            </a:r>
            <a:br/>
            <a:r>
              <a:t>• Recovery / repayment rate</a:t>
            </a:r>
            <a:br/>
            <a:r>
              <a:t>• Collections cost per account</a:t>
            </a:r>
            <a:br/>
            <a:r>
              <a:t>• Outreach response rate</a:t>
            </a:r>
            <a:br/>
            <a:r>
              <a:t>• Model AUC, F1 score and error rates</a:t>
            </a:r>
            <a:br/>
            <a:br/>
            <a:r>
              <a:t>CUSTOMER OUTCOMES</a:t>
            </a:r>
            <a:br/>
            <a:r>
              <a:t>• More timely and relevant support</a:t>
            </a:r>
            <a:br/>
            <a:r>
              <a:t>• Clearer communication</a:t>
            </a:r>
            <a:br/>
            <a:r>
              <a:t>• Consistent treatment with fairness monitoring</a:t>
            </a:r>
            <a:br/>
            <a:r>
              <a:t>• Reduced unnecessary outreach</a:t>
            </a:r>
            <a:br/>
            <a:r>
              <a:t>• Scalable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[Feel free to add more slides throughout]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